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14" d="100"/>
          <a:sy n="114" d="100"/>
        </p:scale>
        <p:origin x="912" y="64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p>
            <a:pPr marL="0" algn="c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</a:ln>
        </p:spPr>
      </p:cxnSp>
      <p:sp>
        <p:nvSpPr>
          <p:cNvPr id="3" name="TextBox 3"/>
          <p:cNvSpPr txBox="1"/>
          <p:nvPr/>
        </p:nvSpPr>
        <p:spPr>
          <a:xfrm>
            <a:off x="594995" y="1016000"/>
            <a:ext cx="8014335" cy="382079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6000" b="1" i="0" u="none" spc="200" baseline="0">
                <a:solidFill>
                  <a:srgbClr val="949276"/>
                </a:solidFill>
                <a:latin typeface="思源黑体 Medium"/>
                <a:ea typeface="思源黑体 Medium"/>
              </a:rPr>
              <a:t>智慧图书馆管理系统——C++实现解析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4950" y="800100"/>
            <a:ext cx="41021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dist">
              <a:defRPr/>
            </a:pPr>
            <a:r>
              <a:rPr lang="en-US" sz="28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50465" y="232854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系统总体架构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13982" y="230949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949276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500022" y="3007995"/>
            <a:ext cx="629920" cy="260985"/>
          </a:xfrm>
          <a:prstGeom prst="rect">
            <a:avLst/>
          </a:prstGeom>
          <a:noFill/>
          <a:ln>
            <a:solidFill>
              <a:srgbClr val="949276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862570" y="232854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图书类（Book）与用户类（User）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426722" y="230949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949276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912610" y="3007995"/>
            <a:ext cx="629920" cy="260985"/>
          </a:xfrm>
          <a:prstGeom prst="rect">
            <a:avLst/>
          </a:prstGeom>
          <a:noFill/>
          <a:ln>
            <a:solidFill>
              <a:srgbClr val="949276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450465" y="405574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图书馆管理类——核心功能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014617" y="403669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949276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500505" y="4735195"/>
            <a:ext cx="629920" cy="260985"/>
          </a:xfrm>
          <a:prstGeom prst="rect">
            <a:avLst/>
          </a:prstGeom>
          <a:noFill/>
          <a:ln>
            <a:solidFill>
              <a:srgbClr val="949276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949276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862570" y="405574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260352" y="405574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190" y="214566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400" b="1" i="0" u="none" baseline="0">
                <a:solidFill>
                  <a:srgbClr val="949276"/>
                </a:solidFill>
                <a:effectLst/>
                <a:latin typeface="思源黑体 Medium"/>
                <a:ea typeface="思源黑体 Medium"/>
              </a:rPr>
              <a:t>PART    01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20190" y="2867025"/>
            <a:ext cx="6796405" cy="17062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400" b="1" i="0" u="none" spc="400" baseline="0">
                <a:solidFill>
                  <a:srgbClr val="949276"/>
                </a:solidFill>
                <a:latin typeface="思源黑体 Medium"/>
                <a:ea typeface="思源黑体 Medium"/>
              </a:rPr>
              <a:t>系统总体架构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700000">
            <a:off x="10765790" y="5950585"/>
            <a:ext cx="492760" cy="492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 rot="2700000">
            <a:off x="7295193" y="912715"/>
            <a:ext cx="1193632" cy="11936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lIns="91440" tIns="45720" rIns="91440" bIns="45720" anchor="ctr"/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466725" y="532130"/>
            <a:ext cx="11272520" cy="563181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2000" b="1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系统采用面向对象思想，封装了三个主要类：Book（图书）、User（用户）和Library（图书馆管理）。Book类负责图书属性与状态管理，User类管理用户借阅行为及历史，Library类作为中枢，统筹所有业务逻辑。此外，借阅记录通过结构体BorrowRecord存储，确保数据清晰。
struct BorrowRecord {
    int bookId;
    string bookTitle;
    string borrowDate;
    string returnDate; // "未归还" 表示尚未归还
};
class Book { };
class User { };
class Library { };</a:t>
            </a:r>
            <a:endParaRPr lang="en-US" sz="2000" b="1" i="0" u="none" baseline="0">
              <a:solidFill>
                <a:srgbClr val="262626"/>
              </a:solidFill>
              <a:latin typeface="思源黑体 Normal"/>
              <a:ea typeface="思源黑体 Norm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1808480"/>
            <a:ext cx="11786029" cy="2746632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304800" y="440055"/>
            <a:ext cx="11684000" cy="5632450"/>
          </a:xfrm>
          <a:prstGeom prst="rect">
            <a:avLst/>
          </a:prstGeom>
          <a:noFill/>
        </p:spPr>
        <p:txBody>
          <a:bodyPr vert="horz" wrap="square" lIns="73461" tIns="36731" rIns="73461" bIns="36731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数据容器与全局逻辑</a:t>
            </a:r>
            <a:endParaRPr sz="4000"/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图书馆使用`map&lt;int, Book&gt;`和`map&lt;int, User&gt;`分别维护图书和用户映射，保证按ID快速检索。主循环在Library::run()`中通过菜单驱动，支持10种操作，包括增删查改图书与用户、借还图书等，构成完整的管理闭环。</a:t>
            </a:r>
            <a:endParaRPr sz="4000"/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class Library {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private: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map&lt;int, Book&gt; books;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map&lt;int, User&gt; users;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nextBookId = 1;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nextUserId = 1;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string name;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void run(); // 主循环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0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lang="en-US" sz="20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347345" y="201930"/>
            <a:ext cx="11519535" cy="6379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4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main()中创建Library对象（默认名“智慧图书馆”），调用run()方法启动交互式菜单。run()使用do-while循环，根据用户输入的数字执行对应功能，直至输入0退出系统。
int main() {
    Library lib("智慧图书馆");
    lib.run();
    return 0;
}
void Library::run() {
    int choice;
    do {
        showMenu();
        choice = readInt();
        switch (choice) {
            case 1: addBook(); break;
            // ... 其他分支
            case 0: cout &lt;&lt; "感谢使用！" &lt;&lt; endl; break;
            default: cout &lt;&lt; "无效选项" &lt;&lt; endl;
        }
    } while (choice != 0);
</a:t>
            </a:r>
            <a:r>
              <a:rPr lang="en-US" sz="107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}</a:t>
            </a:r>
            <a:endParaRPr lang="en-US" sz="1070" b="0" i="0" u="none" baseline="0">
              <a:solidFill>
                <a:srgbClr val="262626"/>
              </a:solidFill>
              <a:latin typeface="思源黑体 Normal"/>
              <a:ea typeface="思源黑体 Norm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r>
              <a:rPr lang="zh-CN" altLang="en-US" sz="4500" b="1" i="0" u="none" spc="-137" baseline="0">
                <a:solidFill>
                  <a:srgbClr val="949276"/>
                </a:solidFill>
                <a:latin typeface="思源黑体 Medium"/>
                <a:ea typeface="思源黑体 Medium"/>
              </a:rPr>
              <a:t>程序入口与主循环</a:t>
            </a:r>
            <a:endParaRPr lang="zh-CN" altLang="en-US" sz="4500" b="1" i="0" u="none" spc="-137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r>
              <a:rPr lang="zh-CN" altLang="en-US" sz="2600" b="1" i="0" u="none" spc="-82" baseline="0">
                <a:solidFill>
                  <a:srgbClr val="949276"/>
                </a:solidFill>
                <a:latin typeface="思源黑体 Medium"/>
                <a:ea typeface="思源黑体 Medium"/>
              </a:rPr>
              <a:t>main函数结构</a:t>
            </a:r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24382" y="1808480"/>
            <a:ext cx="10270236" cy="4272280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1087882" y="1871980"/>
            <a:ext cx="10143236" cy="414528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#### 输入容错机制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- `readInt()`和`readLine()`工具函数封装了控制台输入读取，`readInt`通过`cin.fail()`和`cin.ignore()`处理非数字输入，防止程序崩溃，提升系统的健壮性。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- ```cpp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int readInt()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num;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while (!(cin &gt;&gt; num))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cin.clear();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cin.ignore(10000, '\n');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cout &lt;&lt; "请输入数字: ";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return num;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string readLine()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string line;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getline(cin, line);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return line;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190" y="214566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400" b="1" i="0" u="none" baseline="0">
                <a:solidFill>
                  <a:srgbClr val="949276"/>
                </a:solidFill>
                <a:effectLst/>
                <a:latin typeface="思源黑体 Medium"/>
                <a:ea typeface="思源黑体 Medium"/>
              </a:rPr>
              <a:t>PART    02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20190" y="2867025"/>
            <a:ext cx="6796405" cy="17062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400" b="1" i="0" u="none" spc="400" baseline="0">
                <a:solidFill>
                  <a:srgbClr val="949276"/>
                </a:solidFill>
                <a:latin typeface="思源黑体 Medium"/>
                <a:ea typeface="思源黑体 Medium"/>
              </a:rPr>
              <a:t>图书类（Book）与用户类（User）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762000" y="232410"/>
            <a:ext cx="10693400" cy="528383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图书类包含`bookId`、`title`、`author`、`isbn`、`isBorrowed`和`borrowerId`。构造函数初始化时默认`isBorrowed=false`，`borrowerId=-1`。`display()`方法输出图书编号、书名、作者、ISBN及是否借出状态，便于用户查看。
class Book {
private:
    int bookId;
    string title;
    string author;
    string isbn;
    bool isBorrowed;
    int borrowerId;
public:
    Book(int id, string t, string a, string i)
        : bookId(id), title(t), author(a), isbn(i), isBorrowed(false), borrowerId(-1) {}
    void display() const {
        cout &lt;&lt; "编号:" &lt;&lt; bookId &lt;&lt; " 书名:" &lt;&lt; title &lt;&lt; " 作者:" &lt;&lt; author
             &lt;&lt; " ISBN:" &lt;&lt; isbn &lt;&lt; " 状态:" &lt;&lt; (isBorrowed ? "已借出" : "可借") &lt;&lt; endl;
    }
   };</a:t>
            </a:r>
            <a:endParaRPr lang="en-US" sz="1600" b="0" i="0" u="none" baseline="0">
              <a:solidFill>
                <a:srgbClr val="262626"/>
              </a:solidFill>
              <a:latin typeface="思源黑体 Normal"/>
              <a:ea typeface="思源黑体 Norm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4500" b="1" i="0" u="none" spc="-137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1808480"/>
            <a:ext cx="11793164" cy="2755290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308610" y="445770"/>
            <a:ext cx="11684000" cy="5362575"/>
          </a:xfrm>
          <a:prstGeom prst="rect">
            <a:avLst/>
          </a:prstGeom>
          <a:noFill/>
        </p:spPr>
        <p:txBody>
          <a:bodyPr vert="horz" wrap="square" lIns="78598" tIns="39299" rIns="78598" bIns="39299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封装性与接口设计</a:t>
            </a:r>
            <a:endParaRPr sz="4000"/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所有属性均为私有，通过公共getter/setter方法访问。例如`getBorrowed()`获取借出状态，`setBorrowed(bool)`修改状态。这种封装保证了数据的安全性，避免外部直接修改内部状态，符合面向对象原则。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class Book {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bool getBorrowed() const { return isBorrowed; }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void setBorrowed(bool b) { isBorrowed = b; }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getBorrowerId() const { return borrowerId; }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void setBorrowerId(int id) { borrowerId = id; }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getBookId() const { return bookId; }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string getTitle() const { return title; }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2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lang="en-US" sz="2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33400" y="466090"/>
            <a:ext cx="11160125" cy="56553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20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User类持有userId、name、正在借阅的书ID列表（vector&lt;int&gt;）和借阅历史（vector&lt;BorrowRecord&gt;）。BorrowRecord结构体记录单次借阅的图书ID、书名、借书日期和还书日期，还书日期默认为“未归还”。
class User {
private:
    int userId;
    string name;
    vector&lt;int&gt; borrowedBooks;          // 当前借阅的图书ID
    vector&lt;BorrowRecord&gt; history;       // 借阅历史
public:
    User(int id, string n) : userId(id), name(n) {}
    // 访问方法
};</a:t>
            </a:r>
            <a:endParaRPr lang="en-US" sz="2000" b="0" i="0" u="none" baseline="0">
              <a:solidFill>
                <a:srgbClr val="262626"/>
              </a:solidFill>
              <a:latin typeface="思源黑体 Normal"/>
              <a:ea typeface="思源黑体 Norm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4500" b="1" i="0" u="none" spc="-137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1808480"/>
            <a:ext cx="11775068" cy="4746454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299720" y="184785"/>
            <a:ext cx="11684000" cy="6324600"/>
          </a:xfrm>
          <a:prstGeom prst="rect">
            <a:avLst/>
          </a:prstGeom>
          <a:noFill/>
        </p:spPr>
        <p:txBody>
          <a:bodyPr vert="horz" wrap="square" lIns="65569" tIns="32784" rIns="65569" bIns="32784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借书与还书业务逻辑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borrowBook()先检查当前借阅数量是否达到上限（5本），超过则拒绝并给出提示。returnBook()用find算法定位书ID，从借阅列表中移除，并更新历史记录中对应条目的还书日期。这些方法均返回布尔值，便于Library类判断操作是否成功。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class User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bool borrowBook(int bookId, const string&amp; date)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if (borrowedBooks.size() &gt;= 5)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cout &lt;&lt; "借阅已达上限(5本)!" &lt;&lt; endl;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return false;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borrowedBooks.push_back(bookId);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history.push_back({bookId, "", date, "未归还"});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return true;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bool returnBook(int bookId, const string&amp; returnDate)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auto it = find(borrowedBooks.begin(), borrowedBooks.end(), bookId);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if (it == borrowedBooks.end()) return false;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borrowedBooks.erase(it);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for (auto&amp; rec : history)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if (rec.bookId == bookId &amp;&amp; rec.returnDate == "未归还") {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    rec.returnDate = returnDate;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    break;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return true;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vector&lt;int&gt; getBorrowedBooks() const { return borrowedBooks; }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2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lang="en-US" sz="12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190" y="214566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400" b="1" i="0" u="none" baseline="0">
                <a:solidFill>
                  <a:srgbClr val="949276"/>
                </a:solidFill>
                <a:effectLst/>
                <a:latin typeface="思源黑体 Medium"/>
                <a:ea typeface="思源黑体 Medium"/>
              </a:rPr>
              <a:t>PART    03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20190" y="2867025"/>
            <a:ext cx="6796405" cy="17062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400" b="1" i="0" u="none" spc="400" baseline="0">
                <a:solidFill>
                  <a:srgbClr val="949276"/>
                </a:solidFill>
                <a:latin typeface="思源黑体 Medium"/>
                <a:ea typeface="思源黑体 Medium"/>
              </a:rPr>
              <a:t>图书馆管理类——核心功能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endParaRPr lang="en-US" sz="1100"/>
          </a:p>
        </p:txBody>
      </p:sp>
      <p:grpSp>
        <p:nvGrpSpPr>
          <p:cNvPr id="8" name="Group 8"/>
          <p:cNvGrpSpPr/>
          <p:nvPr/>
        </p:nvGrpSpPr>
        <p:grpSpPr>
          <a:xfrm>
            <a:off x="685165" y="338455"/>
            <a:ext cx="11193145" cy="6005830"/>
            <a:chOff x="1805" y="1504"/>
            <a:chExt cx="16482" cy="7123"/>
          </a:xfrm>
        </p:grpSpPr>
        <p:sp>
          <p:nvSpPr>
            <p:cNvPr id="9" name="TextBox 9"/>
            <p:cNvSpPr txBox="1"/>
            <p:nvPr/>
          </p:nvSpPr>
          <p:spPr>
            <a:xfrm>
              <a:off x="1805" y="1504"/>
              <a:ext cx="16482" cy="7123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addBook()通过readLine获取书名、作者、ISBN，使用emplace插入新Book对象，并自增nextBookId。removeBook()先检查图书是否存在，若已借出则提示错误，否则erase删除。删除前严格校验状态，防止数据不一致。
void Library::addBook() {
    cout &lt;&lt; "书名: "; string title = readLine();
    cout &lt;&lt; "作者: "; string author = readLine();
    cout &lt;&lt; "ISBN: "; string isbn = readLine();
    books.emplace(nextBookId, Book(nextBookId, title, author, isbn));
    cout &lt;&lt; "添加成功, 编号: " &lt;&lt; nextBookId++ &lt;&lt; endl;
}
void Library::removeBook() {
    int id = readInt();
    auto it = books.find(id);
    if (it == books.end()) { cout &lt;&lt; "图书不存在!" &lt;&lt; endl; return; }
    if (it-&gt;second.getBorrowed()) { cout &lt;&lt; "该书已借出, 无法删除!" &lt;&lt; endl; return; }
    books.erase(it);
    cout &lt;&lt; "删除成功" &lt;&lt; endl;
}</a:t>
              </a:r>
              <a:endPara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endParaRPr lang="en-US" sz="1100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4500" b="1" i="0" u="none" spc="-137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1808480"/>
            <a:ext cx="11782106" cy="4289183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302895" y="402590"/>
            <a:ext cx="11684000" cy="5645785"/>
          </a:xfrm>
          <a:prstGeom prst="rect">
            <a:avLst/>
          </a:prstGeom>
          <a:noFill/>
        </p:spPr>
        <p:txBody>
          <a:bodyPr vert="horz" wrap="square" lIns="70636" tIns="35318" rIns="70636" bIns="35318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图书搜索与列表展示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searchBook()提供三种查询方式：按编号精确查找、按书名模糊查找（find匹配子串）、列出所有图书。showAllBooks()遍历books映射，调用每个对象的display()打印。搜索结果支持多条目，若无匹配告知用户未找到。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void Library::searchBook() {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cout &lt;&lt; "1.按编号 2.按书名 3.显示全部: ";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mode = readInt();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if (mode == 1) {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int id = readInt();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auto it = books.find(id);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if (it != books.end()) it-&gt;second.display();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else cout &lt;&lt; "未找到" &lt;&lt; endl;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 else if (mode == 2) {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string keyword = readLine();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bool found = false;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for (auto&amp; p : books)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if (p.second.getTitle().find(keyword) != string::npos)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    { p.second.display(); found = true; }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if (!found) cout &lt;&lt; "未找到" &lt;&lt; endl;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 else if (mode == 3) showAllBooks();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void Library::showAllBooks() {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for (auto&amp; p : books) p.second.display();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4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4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81050" y="338455"/>
            <a:ext cx="10562590" cy="59905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35000"/>
              </a:lnSpc>
              <a:defRPr/>
            </a:pPr>
            <a:r>
              <a:rPr lang="en-US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addUser()读取用户名，创建新User并分配ID。删除用户时需检查其getBorrowedBooks()是否为空，若有未还图书则禁止删除，保障借阅记录的完整性。
void Library::addUser() {
    cout &lt;&lt; "用户名: "; string name = readLine();
    users.emplace(nextUserId, User(nextUserId, name));
    cout &lt;&lt; "用户添加成功, 编号: " &lt;&lt; nextUserId++ &lt;&lt; endl;
}
void Library::removeUser() {
    int id = readInt();
    auto it = users.find(id);
    if (it == users.end()) { cout &lt;&lt; "用户不存在!" &lt;&lt; endl; return; }
    if (!it-&gt;second.getBorrowedBooks().empty()) {
        cout &lt;&lt; "用户有未还图书, 无法删除!" &lt;&lt; endl; return;
    }
    users.erase(it);
    cout &lt;&lt; "删除成功" &lt;&lt; endl;
}</a:t>
            </a:r>
            <a:endParaRPr lang="en-US" b="0" i="0" u="none" baseline="0">
              <a:solidFill>
                <a:srgbClr val="262626"/>
              </a:solidFill>
              <a:latin typeface="思源黑体 Normal"/>
              <a:ea typeface="思源黑体 Norm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4500" b="1" i="0" u="none" spc="-137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1808480"/>
            <a:ext cx="11795125" cy="4773930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309880" y="386080"/>
            <a:ext cx="11684000" cy="5292090"/>
          </a:xfrm>
          <a:prstGeom prst="rect">
            <a:avLst/>
          </a:prstGeom>
          <a:noFill/>
        </p:spPr>
        <p:txBody>
          <a:bodyPr vert="horz" wrap="square" lIns="80015" tIns="40008" rIns="80015" bIns="40008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用户列表与借阅查看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showAllUsers()列出所有用户及其当前借阅数量。showUserBorrowed()根据用户ID展示详细信息，包括当前借阅的图书ID列表，通过User::showBorrowed()实现，便于管理员快速了解用户状态。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void Library::showAllUsers() {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for (auto&amp; p : users) {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cout &lt;&lt; "用户ID:" &lt;&lt; p.first &lt;&lt; " 姓名:" &lt;&lt; p.second.getName()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     &lt;&lt; " 当前借阅:" &lt;&lt; p.second.getBorrowedBooks().size() &lt;&lt; "本" &lt;&lt; endl;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void Library::showUserBorrowed() {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int id = readInt();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auto it = users.find(id);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if (it == users.end()) { cout &lt;&lt; "用户不存在!" &lt;&lt; endl; return; }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cout &lt;&lt; "用户" &lt;&lt; it-&gt;second.getName() &lt;&lt; "当前借阅: ";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for (int bid : it-&gt;second.getBorrowedBooks())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cout &lt;&lt; bid &lt;&lt; " ";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cout &lt;&lt; endl;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73075" y="707390"/>
            <a:ext cx="11071860" cy="551878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57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`</a:t>
            </a: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borrowBook()依次验证用户是否存在、图书是否存在、图书是否已被借出，然后调用User::borrowBook()并设置图书的isBorrowed=true和borrowerId。多步校验确保借阅分支逻辑严密，防止数据冲突。
void Library::borrowBook() {
    cout &lt;&lt; "用户ID: "; int userId = readInt();
    cout &lt;&lt; "图书ID: "; int bookId = readInt();
    cout &lt;&lt; "借书日期: "; string date = readLine();
    auto uIt = users.find(userId);
    auto bIt = books.find(bookId);
    if (uIt == users.end() || bIt == books.end()) {cout &lt;&lt; "用户或图书不存在!" &lt;&lt; endl; return;}
    if (bIt-&gt;second.getBorrowed()) { cout &lt;&lt; "图书已被借出!" &lt;&lt; endl; return;}
    if (uIt-&gt;second.borrowBook(bookId, date)) {
        bIt-&gt;second.setBorrowed(true);
        bIt-&gt;second.setBorrowerId(userId);
        cout &lt;&lt; "借阅成功!" &lt;&lt; endl;
    }
}</a:t>
            </a:r>
            <a:endParaRPr lang="en-US" sz="1600" b="0" i="0" u="none" baseline="0">
              <a:solidFill>
                <a:srgbClr val="262626"/>
              </a:solidFill>
              <a:latin typeface="思源黑体 Normal"/>
              <a:ea typeface="思源黑体 Norm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553710" y="2064385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4500" b="1" i="0" u="none" spc="-137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p>
            <a:pPr marL="0" indent="0" algn="l"/>
            <a:endParaRPr lang="zh-CN" altLang="en-US" sz="2600" b="1" i="0" u="none" spc="-82" baseline="0">
              <a:solidFill>
                <a:srgbClr val="949276"/>
              </a:solidFill>
              <a:latin typeface="思源黑体 Medium"/>
              <a:ea typeface="思源黑体 Medium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1808480"/>
            <a:ext cx="11797481" cy="4580092"/>
          </a:xfrm>
          <a:prstGeom prst="roundRect">
            <a:avLst>
              <a:gd name="adj" fmla="val 1647"/>
            </a:avLst>
          </a:prstGeom>
          <a:solidFill>
            <a:schemeClr val="accent1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310515" y="259080"/>
            <a:ext cx="11684000" cy="6072505"/>
          </a:xfrm>
          <a:prstGeom prst="rect">
            <a:avLst/>
          </a:prstGeom>
          <a:noFill/>
        </p:spPr>
        <p:txBody>
          <a:bodyPr vert="horz" wrap="square" lIns="81706" tIns="40853" rIns="81706" bIns="40853" anchor="t">
            <a:noAutofit/>
          </a:bodyPr>
          <a:p>
            <a:pPr marL="0" indent="0" algn="l">
              <a:lnSpc>
                <a:spcPct val="120000"/>
              </a:lnSpc>
            </a:pPr>
            <a:r>
              <a:rPr lang="en-US" sz="107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归还操作流程</a:t>
            </a:r>
            <a:endParaRPr sz="2800"/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returnBook()`验证用户和图书存在，并检查`book.getBorrowerId() == userId`，确保只有原借阅者才能归还。成功后更新图书状态和用户记录，归还日期作为参数传入，记录在`BorrowRecord`中。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void Library::returnBook() {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cout &lt;&lt; "用户ID: "; int userId = readInt();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cout &lt;&lt; "图书ID: "; int bookId = readInt();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cout &lt;&lt; "归还日期: "; string date = readLine();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auto uIt = users.find(userId);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auto bIt = books.find(bookId);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if (uIt == users.end() || bIt == books.end()) {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cout &lt;&lt; "用户或图书不存在!" &lt;&lt; endl; return;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if (!bIt-&gt;second.getBorrowed() || bIt-&gt;second.getBorrowerId() != userId) {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cout &lt;&lt; "该书未被该用户借阅或状态异常!" &lt;&lt; endl; return;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if (uIt-&gt;second.returnBook(bookId, date)) {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bIt-&gt;second.setBorrowed(false);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bIt-&gt;second.setBorrowerId(-1);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    cout &lt;&lt; "归还成功!" &lt;&lt; endl;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    }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lnSpc>
                <a:spcPct val="120000"/>
              </a:lnSpc>
            </a:pPr>
            <a:r>
              <a:rPr lang="en-US" sz="1600" b="0" i="0" u="none" spc="-24" baseline="0">
                <a:solidFill>
                  <a:srgbClr val="272525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600" b="0" i="0" u="none" spc="-24" baseline="0">
              <a:solidFill>
                <a:srgbClr val="272525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822325" y="319088"/>
            <a:ext cx="10492105" cy="5478145"/>
            <a:chOff x="1805" y="181"/>
            <a:chExt cx="16523" cy="8627"/>
          </a:xfrm>
        </p:grpSpPr>
        <p:sp>
          <p:nvSpPr>
            <p:cNvPr id="8" name="TextBox 8"/>
            <p:cNvSpPr txBox="1"/>
            <p:nvPr/>
          </p:nvSpPr>
          <p:spPr>
            <a:xfrm>
              <a:off x="1805" y="181"/>
              <a:ext cx="16523" cy="8627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625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`</a:t>
              </a: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showMenu()打印格式化菜单，包含10个功能编号和退出选项（0）。采用“=”字符装饰，标题显示图书馆名称，增强用户体验。菜单信息清晰，用户只需输入数字即可操作。
void Library::showMenu() const {
    cout &lt;&lt; "========== " &lt;&lt; name &lt;&lt; " ==========" &lt;&lt; endl;
    cout &lt;&lt; "1. 添加图书" &lt;&lt; endl;
    cout &lt;&lt; "2. 删除图书" &lt;&lt; endl;
    cout &lt;&lt; "3. 查找图书" &lt;&lt; endl;
    cout &lt;&lt; "4. 显示所有图书" &lt;&lt; endl;
    cout &lt;&lt; "5. 添加用户" &lt;&lt; endl;
    cout &lt;&lt; "6. 删除用户" &lt;&lt; endl;
    cout &lt;&lt; "7. 显示所有用户" &lt;&lt; endl;
    cout &lt;&lt; "8. 借阅图书" &lt;&lt; endl;
    cout &lt;&lt; "9. 归还图书" &lt;&lt; endl;
    cout &lt;&lt; "10.查看用户借阅详情" &lt;&lt; endl;
    cout &lt;&lt; "0. 退出" &lt;&lt; endl;
    cout &lt;&lt; "==============================" &lt;&lt; endl;
    cout &lt;&lt; "请选择: ";
}</a:t>
              </a:r>
              <a:endPara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0" y="1958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endParaRPr lang="en-US" sz="1100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03632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7F9F8"/>
      </a:lt1>
      <a:dk2>
        <a:srgbClr val="111111"/>
      </a:dk2>
      <a:lt2>
        <a:srgbClr val="111111"/>
      </a:lt2>
      <a:accent1>
        <a:srgbClr val="F7F8FC"/>
      </a:accent1>
      <a:accent2>
        <a:srgbClr val="949276"/>
      </a:accent2>
      <a:accent3>
        <a:srgbClr val="949276"/>
      </a:accent3>
      <a:accent4>
        <a:srgbClr val="949276"/>
      </a:accent4>
      <a:accent5>
        <a:srgbClr val="949276"/>
      </a:accent5>
      <a:accent6>
        <a:srgbClr val="A6D7FD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8712</Words>
  <Application>WPS 演示</Application>
  <PresentationFormat>全屏显示(4:3)</PresentationFormat>
  <Paragraphs>199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思源黑体 Medium</vt:lpstr>
      <vt:lpstr>黑体</vt:lpstr>
      <vt:lpstr>思源黑体 Normal</vt:lpstr>
      <vt:lpstr>微软雅黑</vt:lpstr>
      <vt:lpstr>Consolas</vt:lpstr>
      <vt:lpstr>Arial Unicode MS</vt:lpstr>
      <vt:lpstr>Calibri</vt:lpstr>
      <vt:lpstr>Consolas</vt:lpstr>
      <vt:lpstr>思源黑体 Medium</vt:lpstr>
      <vt:lpstr>思源黑体 Normal</vt:lpstr>
      <vt:lpstr>方正宝黑体 简 Medium</vt:lpstr>
      <vt:lpstr>兰米黑体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Clear.</cp:lastModifiedBy>
  <cp:revision>2</cp:revision>
  <dcterms:created xsi:type="dcterms:W3CDTF">2026-06-13T15:51:00Z</dcterms:created>
  <dcterms:modified xsi:type="dcterms:W3CDTF">2026-06-13T16:17:09Z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{"ContentPropagator":"文多多","Label":"1","ReservedCode1":"1781365909304","ProduceID":"wenduoduo-pptx-1781365909304","ReservedCode2":"1781365909304","PropagateID":"wenduoduo-pptx1781365909304","ContentProducer":"文多多"}</vt:lpwstr>
  </property>
  <property fmtid="{D5CDD505-2E9C-101B-9397-08002B2CF9AE}" pid="5" name="KSOProductBuildVer">
    <vt:lpwstr>2052-12.1.0.26895</vt:lpwstr>
  </property>
  <property fmtid="{D5CDD505-2E9C-101B-9397-08002B2CF9AE}" pid="6" name="ICV">
    <vt:lpwstr>D5AB57F22FB84C2A9ECC50038EC60A9C_12</vt:lpwstr>
  </property>
</Properties>
</file>